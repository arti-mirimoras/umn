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A0B4"/>
    <a:srgbClr val="78B3A1"/>
    <a:srgbClr val="7EB6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97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3E48B-774C-648A-7315-BEA253A46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079B6-748E-8F37-22E2-8706433C4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585D7-6449-87C6-F422-88D15B6F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3CD4D-2BBB-06F8-2E1F-5E2F8193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3BFEC-36E4-3DA3-B381-266306C64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99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E2D0-385A-73ED-7763-09A86AA1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7D338-D11E-B01B-D0BD-D40A318C0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8A186-D0A0-3CBD-AE5A-C0DF32F7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A243B-1556-1C93-5B8F-1E5889AE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BEC9B-E183-A614-6F9B-7442D0F2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39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418F-19BE-10B2-BBD0-33CEB723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9841F-4533-0B46-A898-19ABE3868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5FAA2-047A-E7F7-29BE-26860DF4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D4A73-BA27-058A-A411-3C095E5D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42844-DE78-5D43-51D3-9A418AF3D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2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259E-0BD7-E538-4C35-98893E5F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108B-E8B2-A78C-2201-5B1F434E4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1CAB6-FB33-8D21-AFCF-F9A583C5B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3A0EC-4E66-A0DC-6CB1-4920BE004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5649E-2521-1C0E-7069-72526B3F4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397C5-678C-411D-E28E-00A9B87E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0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3767-E309-789A-A2BE-D0E1F5A7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A56B2-793E-2119-A88D-C2848C3B2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0D09A-4647-3768-0F99-90CCA4AB3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83E9B4-EA17-62F6-7773-0F1A1963C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2699F-6424-28EA-FB3F-70792362D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94A6D4-3070-AD5A-8059-314517291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06B35-510C-7B75-70B7-94155CD4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0E7BF4-AED3-6589-3793-58AA9D5B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9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055D-D2C3-4F2D-E9BD-1C4E471C0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09876-A568-6466-CA11-6DFE7D17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B141C-CF41-63C9-84C1-2EC9CF03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4B89B-2BB7-688B-58AA-38EB606C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46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A6BDB-01A1-99EE-FF2B-6722F6C0F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A4A24-8FAB-8C63-856E-A1E46F5F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009-B2B4-740D-6421-4015212D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1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A04B-D4CD-7C9E-1929-9EF98192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B9E86-FD4E-D237-1254-D2D37E054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3BE43-2A29-AB4B-2164-C28C52ED8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829DC-8D28-C0F0-FAE9-F1E775B6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9E925-B55D-4541-2275-1FB3B56B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571FF-DC82-430E-0491-41607BD3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6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CFE14-D225-4D50-D614-DC055298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64188-C561-1B73-51F5-9C5C9AF15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AB440-3E89-C16B-907A-E848AEC47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D4FCF-EE62-FCF6-80E2-F64DA8B0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5A7D-6AF1-6A36-1585-EF36C357D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E723D-3B60-A920-0ABE-9533E7E8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5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7780-2D49-947E-51AF-E148B182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BB35E-9D61-2874-605F-DA24191C1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0194A-2EB1-87FF-4B70-E0408F1CB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8B098-9D28-26C9-B668-D9EED7F1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79DD4-8D25-5961-65D4-7AA5B8933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6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F136A-7051-EE81-7BC6-A66DCF97E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5CB11-AE81-1FA4-D637-76C552AC6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19B6-7F00-B875-A8F8-BF8AB692B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1F9A8-978E-C446-DA35-B5E312FBC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41723-8749-D3D2-C1F3-6999ADDE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4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BD344-CA2D-2B2E-5AEF-6CB9A21A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12A3-4D06-02AB-E831-C526D6E74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9C242-874E-99BF-2A87-39FB0171C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064F3-00E7-4568-9EB2-267A08A89A0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96201-8026-CF44-F0D4-271062C18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E8613-C63C-D7CB-F6E6-CC83C977E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0F928-5151-4E87-8306-2EAC55524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5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4D886-F9AF-EABE-94DB-7D962F6E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C1DB5-929A-31D9-BB7C-02ABDC87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Let’s suppose you're asked to </a:t>
            </a:r>
            <a:r>
              <a:rPr lang="en-US" b="1" dirty="0"/>
              <a:t>design a cylindrical can</a:t>
            </a:r>
            <a:r>
              <a:rPr lang="en-US" dirty="0"/>
              <a:t> that must:</a:t>
            </a:r>
          </a:p>
          <a:p>
            <a:r>
              <a:rPr lang="en-US" dirty="0"/>
              <a:t>Hold </a:t>
            </a:r>
            <a:r>
              <a:rPr lang="en-US" b="1" dirty="0"/>
              <a:t>1 liter of liquid</a:t>
            </a:r>
            <a:r>
              <a:rPr lang="en-US" dirty="0"/>
              <a:t> (i.e., </a:t>
            </a:r>
            <a:r>
              <a:rPr lang="en-US" b="1" dirty="0"/>
              <a:t>1000 cm³</a:t>
            </a:r>
            <a:r>
              <a:rPr lang="en-US" dirty="0"/>
              <a:t>)</a:t>
            </a:r>
          </a:p>
          <a:p>
            <a:r>
              <a:rPr lang="en-US" dirty="0"/>
              <a:t>Be made of materials with different costs:</a:t>
            </a:r>
          </a:p>
          <a:p>
            <a:pPr lvl="1"/>
            <a:r>
              <a:rPr lang="en-US" b="1" dirty="0"/>
              <a:t>Side</a:t>
            </a:r>
            <a:r>
              <a:rPr lang="en-US" dirty="0"/>
              <a:t>: $0.02 per cm²</a:t>
            </a:r>
          </a:p>
          <a:p>
            <a:pPr lvl="1"/>
            <a:r>
              <a:rPr lang="en-US" b="1" dirty="0"/>
              <a:t>Top and bottom</a:t>
            </a:r>
            <a:r>
              <a:rPr lang="en-US" dirty="0"/>
              <a:t>: $0.05 per cm²</a:t>
            </a:r>
          </a:p>
          <a:p>
            <a:r>
              <a:rPr lang="en-US" dirty="0"/>
              <a:t>👉 Your task: </a:t>
            </a:r>
            <a:r>
              <a:rPr lang="en-US" b="1" dirty="0"/>
              <a:t>Choose the radius and height</a:t>
            </a:r>
            <a:r>
              <a:rPr lang="en-US" dirty="0"/>
              <a:t> to </a:t>
            </a:r>
            <a:r>
              <a:rPr lang="en-US" b="1" dirty="0"/>
              <a:t>minimize material cost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57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2E14F0F-78E8-E7F9-72CB-0A75CA77316C}"/>
              </a:ext>
            </a:extLst>
          </p:cNvPr>
          <p:cNvSpPr txBox="1"/>
          <p:nvPr/>
        </p:nvSpPr>
        <p:spPr>
          <a:xfrm>
            <a:off x="997847" y="2749034"/>
            <a:ext cx="37982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dirty="0"/>
              <a:t>Volume: </a:t>
            </a:r>
            <a:r>
              <a:rPr lang="en-US" dirty="0"/>
              <a:t>1 liter</a:t>
            </a:r>
          </a:p>
          <a:p>
            <a:pPr lvl="1"/>
            <a:r>
              <a:rPr lang="en-US" b="1" dirty="0"/>
              <a:t>Side</a:t>
            </a:r>
            <a:r>
              <a:rPr lang="en-US" dirty="0"/>
              <a:t>: $0.02 per cm²</a:t>
            </a:r>
          </a:p>
          <a:p>
            <a:pPr lvl="1"/>
            <a:r>
              <a:rPr lang="en-US" b="1" dirty="0"/>
              <a:t>Top and bottom</a:t>
            </a:r>
            <a:r>
              <a:rPr lang="en-US" dirty="0"/>
              <a:t>: $0.05 per cm²</a:t>
            </a:r>
          </a:p>
          <a:p>
            <a:r>
              <a:rPr lang="en-US" dirty="0"/>
              <a:t>👉 Your task: </a:t>
            </a:r>
            <a:r>
              <a:rPr lang="en-US" b="1" dirty="0"/>
              <a:t>Choose the radius and height</a:t>
            </a:r>
            <a:r>
              <a:rPr lang="en-US" dirty="0"/>
              <a:t> to </a:t>
            </a:r>
            <a:r>
              <a:rPr lang="en-US" b="1" dirty="0"/>
              <a:t>minimize material cost</a:t>
            </a:r>
            <a:r>
              <a:rPr lang="en-US" dirty="0"/>
              <a:t>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01B4ABB-38F0-58D4-32A4-46C061C28703}"/>
              </a:ext>
            </a:extLst>
          </p:cNvPr>
          <p:cNvGrpSpPr/>
          <p:nvPr/>
        </p:nvGrpSpPr>
        <p:grpSpPr>
          <a:xfrm>
            <a:off x="7077630" y="1857770"/>
            <a:ext cx="4116523" cy="2364646"/>
            <a:chOff x="7016975" y="1368122"/>
            <a:chExt cx="4116523" cy="236464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D82BF4-6D10-E66F-75E9-B3E0725E9E17}"/>
                </a:ext>
              </a:extLst>
            </p:cNvPr>
            <p:cNvSpPr txBox="1"/>
            <p:nvPr/>
          </p:nvSpPr>
          <p:spPr>
            <a:xfrm>
              <a:off x="7897625" y="191031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13" name="Cylinder 12">
              <a:extLst>
                <a:ext uri="{FF2B5EF4-FFF2-40B4-BE49-F238E27FC236}">
                  <a16:creationId xmlns:a16="http://schemas.microsoft.com/office/drawing/2014/main" id="{F77F15F4-61C2-621C-CDC7-6C8AAD2FB744}"/>
                </a:ext>
              </a:extLst>
            </p:cNvPr>
            <p:cNvSpPr/>
            <p:nvPr/>
          </p:nvSpPr>
          <p:spPr>
            <a:xfrm>
              <a:off x="7395816" y="2221468"/>
              <a:ext cx="914399" cy="151130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E80B89-2D9A-1BA0-D4A7-CC7B28DFCB33}"/>
                </a:ext>
              </a:extLst>
            </p:cNvPr>
            <p:cNvGrpSpPr/>
            <p:nvPr/>
          </p:nvGrpSpPr>
          <p:grpSpPr>
            <a:xfrm>
              <a:off x="7172627" y="2329934"/>
              <a:ext cx="180000" cy="1321316"/>
              <a:chOff x="7172627" y="2329934"/>
              <a:chExt cx="180000" cy="1321316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A7D3627-A888-12E8-C5C8-D67ED5CF3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2627" y="2329934"/>
                <a:ext cx="0" cy="1321316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B2DBF19-D876-49F1-C0BC-07FAC22B1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2329934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3649F4E-03D3-616F-32FB-B19375D129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3651250"/>
                <a:ext cx="180000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097CE3-2800-4F54-1FC3-E3292A16FF39}"/>
                </a:ext>
              </a:extLst>
            </p:cNvPr>
            <p:cNvSpPr txBox="1"/>
            <p:nvPr/>
          </p:nvSpPr>
          <p:spPr>
            <a:xfrm>
              <a:off x="7016975" y="279245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4A79CF1-C4D5-C2E7-8DEA-88F1E730AF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015" y="2279650"/>
              <a:ext cx="416849" cy="449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BB4BDCD-B268-68F4-5554-7FF0E06B9A12}"/>
                </a:ext>
              </a:extLst>
            </p:cNvPr>
            <p:cNvGrpSpPr/>
            <p:nvPr/>
          </p:nvGrpSpPr>
          <p:grpSpPr>
            <a:xfrm>
              <a:off x="9043641" y="1368122"/>
              <a:ext cx="914398" cy="523281"/>
              <a:chOff x="9043641" y="1368122"/>
              <a:chExt cx="914398" cy="523281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912586F-7CC1-8737-C592-C3E291E84934}"/>
                  </a:ext>
                </a:extLst>
              </p:cNvPr>
              <p:cNvSpPr/>
              <p:nvPr/>
            </p:nvSpPr>
            <p:spPr>
              <a:xfrm>
                <a:off x="9043641" y="1655421"/>
                <a:ext cx="914398" cy="235982"/>
              </a:xfrm>
              <a:prstGeom prst="ellipse">
                <a:avLst/>
              </a:prstGeom>
              <a:solidFill>
                <a:srgbClr val="73A0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AB631C-61C8-D695-7EFB-BBB651CACD30}"/>
                  </a:ext>
                </a:extLst>
              </p:cNvPr>
              <p:cNvSpPr txBox="1"/>
              <p:nvPr/>
            </p:nvSpPr>
            <p:spPr>
              <a:xfrm>
                <a:off x="9571165" y="1368122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3B9160A-BE1C-7EE7-6A66-028763FB97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6555" y="1737454"/>
                <a:ext cx="416849" cy="449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224FE7F-9B4E-BBD9-EB01-65F48C3CED48}"/>
                </a:ext>
              </a:extLst>
            </p:cNvPr>
            <p:cNvSpPr/>
            <p:nvPr/>
          </p:nvSpPr>
          <p:spPr>
            <a:xfrm>
              <a:off x="10219100" y="1655421"/>
              <a:ext cx="914398" cy="235982"/>
            </a:xfrm>
            <a:prstGeom prst="ellipse">
              <a:avLst/>
            </a:prstGeom>
            <a:solidFill>
              <a:srgbClr val="73A0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C96ABE2-03FC-A228-62AE-EF8EF1F61DE3}"/>
                </a:ext>
              </a:extLst>
            </p:cNvPr>
            <p:cNvSpPr/>
            <p:nvPr/>
          </p:nvSpPr>
          <p:spPr>
            <a:xfrm>
              <a:off x="9049404" y="2339981"/>
              <a:ext cx="914398" cy="12862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8D2C35F-05C1-335E-8F31-5E48BC9FD11D}"/>
                </a:ext>
              </a:extLst>
            </p:cNvPr>
            <p:cNvGrpSpPr/>
            <p:nvPr/>
          </p:nvGrpSpPr>
          <p:grpSpPr>
            <a:xfrm>
              <a:off x="8863641" y="2328374"/>
              <a:ext cx="180000" cy="1298796"/>
              <a:chOff x="7172627" y="2325430"/>
              <a:chExt cx="180000" cy="1298796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4CF8E78-6FC9-E191-BBBA-2E989573F4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2627" y="2325430"/>
                <a:ext cx="0" cy="1297823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E896F33-AFDF-3C3A-DAA5-87EB52D39E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2329934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31EBCAA-4D53-EB74-2D6D-14868BA726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3624226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39C7F1F-A588-D16A-44BC-386C41D2628A}"/>
                </a:ext>
              </a:extLst>
            </p:cNvPr>
            <p:cNvSpPr txBox="1"/>
            <p:nvPr/>
          </p:nvSpPr>
          <p:spPr>
            <a:xfrm>
              <a:off x="8707989" y="279539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6982035-DB58-23F5-E728-C90A6D3997AB}"/>
                </a:ext>
              </a:extLst>
            </p:cNvPr>
            <p:cNvSpPr txBox="1"/>
            <p:nvPr/>
          </p:nvSpPr>
          <p:spPr>
            <a:xfrm>
              <a:off x="9345072" y="2000843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78F9F3-004A-9E96-79DF-995AA56A61A8}"/>
                  </a:ext>
                </a:extLst>
              </p:cNvPr>
              <p:cNvSpPr txBox="1"/>
              <p:nvPr/>
            </p:nvSpPr>
            <p:spPr>
              <a:xfrm>
                <a:off x="7323282" y="4452039"/>
                <a:ext cx="1114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178F9F3-004A-9E96-79DF-995AA56A6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282" y="4452039"/>
                <a:ext cx="1114985" cy="307777"/>
              </a:xfrm>
              <a:prstGeom prst="rect">
                <a:avLst/>
              </a:prstGeom>
              <a:blipFill>
                <a:blip r:embed="rId2"/>
                <a:stretch>
                  <a:fillRect l="-4918" t="-1961" r="-546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449BB19-EF4E-F1E7-8CA0-16827C40C9B0}"/>
                  </a:ext>
                </a:extLst>
              </p:cNvPr>
              <p:cNvSpPr txBox="1"/>
              <p:nvPr/>
            </p:nvSpPr>
            <p:spPr>
              <a:xfrm>
                <a:off x="8903709" y="4454983"/>
                <a:ext cx="298398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𝑟h</m:t>
                      </m:r>
                    </m:oMath>
                  </m:oMathPara>
                </a14:m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449BB19-EF4E-F1E7-8CA0-16827C40C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709" y="4454983"/>
                <a:ext cx="2983988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C886BA-4BFE-A5CB-775B-78DE2E3E6864}"/>
                  </a:ext>
                </a:extLst>
              </p:cNvPr>
              <p:cNvSpPr txBox="1"/>
              <p:nvPr/>
            </p:nvSpPr>
            <p:spPr>
              <a:xfrm>
                <a:off x="8438267" y="4793147"/>
                <a:ext cx="298398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C886BA-4BFE-A5CB-775B-78DE2E3E6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267" y="4793147"/>
                <a:ext cx="2983988" cy="615553"/>
              </a:xfrm>
              <a:prstGeom prst="rect">
                <a:avLst/>
              </a:prstGeom>
              <a:blipFill>
                <a:blip r:embed="rId4"/>
                <a:stretch>
                  <a:fillRect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90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0FFEC8-02DC-0AF6-D17F-A87F7DB8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D10F7-0CF2-BF3D-0DAC-2A26B543F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approach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71A7D-436A-A1C2-7A52-6BB005B933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Formulate the problem as equations: Volume and cost</a:t>
            </a:r>
          </a:p>
          <a:p>
            <a:r>
              <a:rPr lang="en-US" dirty="0"/>
              <a:t>Identify dependent and independent variables</a:t>
            </a:r>
          </a:p>
          <a:p>
            <a:r>
              <a:rPr lang="en-US" dirty="0"/>
              <a:t>Combine and formulate, having the dependent variable as a function of the independent variables</a:t>
            </a:r>
          </a:p>
          <a:p>
            <a:r>
              <a:rPr lang="en-US" dirty="0"/>
              <a:t>Find the optimal solution out of the infinite possibilities.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74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Formulate the problem as equations: Volume and cost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Identify dependent and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Combine and formulate, having the dependent variable as a function of the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/>
              <p:nvPr/>
            </p:nvSpPr>
            <p:spPr>
              <a:xfrm>
                <a:off x="7463048" y="2210666"/>
                <a:ext cx="24779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210666"/>
                <a:ext cx="2477922" cy="307777"/>
              </a:xfrm>
              <a:prstGeom prst="rect">
                <a:avLst/>
              </a:prstGeom>
              <a:blipFill>
                <a:blip r:embed="rId2"/>
                <a:stretch>
                  <a:fillRect l="-1966" t="-4000" r="-73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1B0C7C-8FD1-1944-3294-F1C7528E42D9}"/>
              </a:ext>
            </a:extLst>
          </p:cNvPr>
          <p:cNvSpPr txBox="1"/>
          <p:nvPr/>
        </p:nvSpPr>
        <p:spPr>
          <a:xfrm>
            <a:off x="5981480" y="21337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Volume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67142-2D6E-B67E-5A2A-797E33308A3D}"/>
              </a:ext>
            </a:extLst>
          </p:cNvPr>
          <p:cNvSpPr txBox="1"/>
          <p:nvPr/>
        </p:nvSpPr>
        <p:spPr>
          <a:xfrm>
            <a:off x="5981480" y="2624469"/>
            <a:ext cx="108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023F20-1E40-22F9-C15E-27E174C8B301}"/>
                  </a:ext>
                </a:extLst>
              </p:cNvPr>
              <p:cNvSpPr txBox="1"/>
              <p:nvPr/>
            </p:nvSpPr>
            <p:spPr>
              <a:xfrm>
                <a:off x="7463048" y="2701413"/>
                <a:ext cx="299344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𝑒𝑛𝑑𝑠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023F20-1E40-22F9-C15E-27E174C8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701413"/>
                <a:ext cx="2993448" cy="307777"/>
              </a:xfrm>
              <a:prstGeom prst="rect">
                <a:avLst/>
              </a:prstGeom>
              <a:blipFill>
                <a:blip r:embed="rId3"/>
                <a:stretch>
                  <a:fillRect l="-1426" r="-611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4A2F4CD-A72F-77F1-806C-A29067F8A9AB}"/>
                  </a:ext>
                </a:extLst>
              </p:cNvPr>
              <p:cNvSpPr txBox="1"/>
              <p:nvPr/>
            </p:nvSpPr>
            <p:spPr>
              <a:xfrm>
                <a:off x="6787797" y="6200396"/>
                <a:ext cx="1114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4A2F4CD-A72F-77F1-806C-A29067F8A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797" y="6200396"/>
                <a:ext cx="1114985" cy="307777"/>
              </a:xfrm>
              <a:prstGeom prst="rect">
                <a:avLst/>
              </a:prstGeom>
              <a:blipFill>
                <a:blip r:embed="rId4"/>
                <a:stretch>
                  <a:fillRect l="-4918" t="-1961" r="-546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F6C797-23BD-98B7-94AE-EF6C6C0475A0}"/>
                  </a:ext>
                </a:extLst>
              </p:cNvPr>
              <p:cNvSpPr txBox="1"/>
              <p:nvPr/>
            </p:nvSpPr>
            <p:spPr>
              <a:xfrm>
                <a:off x="8368224" y="6203340"/>
                <a:ext cx="298398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𝑟h</m:t>
                      </m:r>
                    </m:oMath>
                  </m:oMathPara>
                </a14:m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F6C797-23BD-98B7-94AE-EF6C6C047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224" y="6203340"/>
                <a:ext cx="2983988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1EA9AF-91C6-89FE-B774-ED954FA81BEA}"/>
                  </a:ext>
                </a:extLst>
              </p:cNvPr>
              <p:cNvSpPr txBox="1"/>
              <p:nvPr/>
            </p:nvSpPr>
            <p:spPr>
              <a:xfrm>
                <a:off x="8083439" y="6522868"/>
                <a:ext cx="298398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1EA9AF-91C6-89FE-B774-ED954FA81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439" y="6522868"/>
                <a:ext cx="2983988" cy="615553"/>
              </a:xfrm>
              <a:prstGeom prst="rect">
                <a:avLst/>
              </a:prstGeom>
              <a:blipFill>
                <a:blip r:embed="rId6"/>
                <a:stretch>
                  <a:fillRect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632E15C-5E79-CE43-F315-899A2F63CC15}"/>
              </a:ext>
            </a:extLst>
          </p:cNvPr>
          <p:cNvGrpSpPr/>
          <p:nvPr/>
        </p:nvGrpSpPr>
        <p:grpSpPr>
          <a:xfrm>
            <a:off x="6643747" y="3859814"/>
            <a:ext cx="4116523" cy="2364646"/>
            <a:chOff x="7016975" y="1368122"/>
            <a:chExt cx="4116523" cy="236464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07E8566-EA2F-ABAB-4857-73D6A5D9C878}"/>
                </a:ext>
              </a:extLst>
            </p:cNvPr>
            <p:cNvSpPr txBox="1"/>
            <p:nvPr/>
          </p:nvSpPr>
          <p:spPr>
            <a:xfrm>
              <a:off x="7897625" y="191031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42" name="Cylinder 41">
              <a:extLst>
                <a:ext uri="{FF2B5EF4-FFF2-40B4-BE49-F238E27FC236}">
                  <a16:creationId xmlns:a16="http://schemas.microsoft.com/office/drawing/2014/main" id="{1E75949D-3856-5A9A-4687-FB18D4130C30}"/>
                </a:ext>
              </a:extLst>
            </p:cNvPr>
            <p:cNvSpPr/>
            <p:nvPr/>
          </p:nvSpPr>
          <p:spPr>
            <a:xfrm>
              <a:off x="7395816" y="2221468"/>
              <a:ext cx="914399" cy="151130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3A22772-35B9-B721-5093-FFF7AC04FAF6}"/>
                </a:ext>
              </a:extLst>
            </p:cNvPr>
            <p:cNvGrpSpPr/>
            <p:nvPr/>
          </p:nvGrpSpPr>
          <p:grpSpPr>
            <a:xfrm>
              <a:off x="7172627" y="2329934"/>
              <a:ext cx="180000" cy="1321316"/>
              <a:chOff x="7172627" y="2329934"/>
              <a:chExt cx="180000" cy="1321316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80B46A2-2F5C-9968-FCB5-BB03696B2A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2627" y="2329934"/>
                <a:ext cx="0" cy="1321316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1280278-82A0-0E4F-0551-59DBBC16DD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2329934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A4CB444-1B98-2308-F030-85DD36799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3651250"/>
                <a:ext cx="180000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65F1E03-0C45-54E3-9782-FD0BE477BD81}"/>
                </a:ext>
              </a:extLst>
            </p:cNvPr>
            <p:cNvSpPr txBox="1"/>
            <p:nvPr/>
          </p:nvSpPr>
          <p:spPr>
            <a:xfrm>
              <a:off x="7016975" y="279245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5C5A219-4AED-7A21-35D5-9884A35FA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015" y="2279650"/>
              <a:ext cx="416849" cy="449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7C7D69B-53DC-038C-D26C-9BE3CDC35B94}"/>
                </a:ext>
              </a:extLst>
            </p:cNvPr>
            <p:cNvGrpSpPr/>
            <p:nvPr/>
          </p:nvGrpSpPr>
          <p:grpSpPr>
            <a:xfrm>
              <a:off x="9043641" y="1368122"/>
              <a:ext cx="914398" cy="523281"/>
              <a:chOff x="9043641" y="1368122"/>
              <a:chExt cx="914398" cy="523281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E5D0C62-A205-210C-C1DC-BDE5A648C4D7}"/>
                  </a:ext>
                </a:extLst>
              </p:cNvPr>
              <p:cNvSpPr/>
              <p:nvPr/>
            </p:nvSpPr>
            <p:spPr>
              <a:xfrm>
                <a:off x="9043641" y="1655421"/>
                <a:ext cx="914398" cy="235982"/>
              </a:xfrm>
              <a:prstGeom prst="ellipse">
                <a:avLst/>
              </a:prstGeom>
              <a:solidFill>
                <a:srgbClr val="73A0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DC86EB-9356-3EFD-F50C-611553C06B91}"/>
                  </a:ext>
                </a:extLst>
              </p:cNvPr>
              <p:cNvSpPr txBox="1"/>
              <p:nvPr/>
            </p:nvSpPr>
            <p:spPr>
              <a:xfrm>
                <a:off x="9571165" y="1368122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20125FE-38E8-1AE5-7DBE-6C7C81C90D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6555" y="1737454"/>
                <a:ext cx="416849" cy="449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A74B8DA-19F7-68C3-3450-549D0D694042}"/>
                </a:ext>
              </a:extLst>
            </p:cNvPr>
            <p:cNvSpPr/>
            <p:nvPr/>
          </p:nvSpPr>
          <p:spPr>
            <a:xfrm>
              <a:off x="10219100" y="1655421"/>
              <a:ext cx="914398" cy="235982"/>
            </a:xfrm>
            <a:prstGeom prst="ellipse">
              <a:avLst/>
            </a:prstGeom>
            <a:solidFill>
              <a:srgbClr val="73A0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E5874-D0C4-A016-6805-5EEE693BE846}"/>
                </a:ext>
              </a:extLst>
            </p:cNvPr>
            <p:cNvSpPr/>
            <p:nvPr/>
          </p:nvSpPr>
          <p:spPr>
            <a:xfrm>
              <a:off x="9049404" y="2339981"/>
              <a:ext cx="914398" cy="12862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2B2C813-B0D2-4DF6-6ED4-6DF13EA67882}"/>
                </a:ext>
              </a:extLst>
            </p:cNvPr>
            <p:cNvGrpSpPr/>
            <p:nvPr/>
          </p:nvGrpSpPr>
          <p:grpSpPr>
            <a:xfrm>
              <a:off x="8863641" y="2328374"/>
              <a:ext cx="180000" cy="1298796"/>
              <a:chOff x="7172627" y="2325430"/>
              <a:chExt cx="180000" cy="1298796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5DEC046-244B-2D5E-4160-8483757D2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2627" y="2325430"/>
                <a:ext cx="0" cy="1297823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856CD74-DB58-882F-1623-342C0FB67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2329934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D6EDB96-4630-71BC-B5FA-C4AE7693C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3624226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37FC093-FE1B-042D-1017-218420AE5A32}"/>
                </a:ext>
              </a:extLst>
            </p:cNvPr>
            <p:cNvSpPr txBox="1"/>
            <p:nvPr/>
          </p:nvSpPr>
          <p:spPr>
            <a:xfrm>
              <a:off x="8707989" y="279539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1B6576E-AAB7-B7EB-0DF9-6773AE07F984}"/>
                </a:ext>
              </a:extLst>
            </p:cNvPr>
            <p:cNvSpPr txBox="1"/>
            <p:nvPr/>
          </p:nvSpPr>
          <p:spPr>
            <a:xfrm>
              <a:off x="9345072" y="2000843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3953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Formulate the problem as equations: Volume and cost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Identify dependent and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Combine and formulate, having the dependent variable as a function of the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/>
              <p:nvPr/>
            </p:nvSpPr>
            <p:spPr>
              <a:xfrm>
                <a:off x="7463048" y="2210666"/>
                <a:ext cx="24779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210666"/>
                <a:ext cx="2477922" cy="307777"/>
              </a:xfrm>
              <a:prstGeom prst="rect">
                <a:avLst/>
              </a:prstGeom>
              <a:blipFill>
                <a:blip r:embed="rId2"/>
                <a:stretch>
                  <a:fillRect l="-1966" t="-4000" r="-73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1B0C7C-8FD1-1944-3294-F1C7528E42D9}"/>
              </a:ext>
            </a:extLst>
          </p:cNvPr>
          <p:cNvSpPr txBox="1"/>
          <p:nvPr/>
        </p:nvSpPr>
        <p:spPr>
          <a:xfrm>
            <a:off x="5981480" y="21337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Volume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67142-2D6E-B67E-5A2A-797E33308A3D}"/>
              </a:ext>
            </a:extLst>
          </p:cNvPr>
          <p:cNvSpPr txBox="1"/>
          <p:nvPr/>
        </p:nvSpPr>
        <p:spPr>
          <a:xfrm>
            <a:off x="5981480" y="2624469"/>
            <a:ext cx="108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023F20-1E40-22F9-C15E-27E174C8B301}"/>
                  </a:ext>
                </a:extLst>
              </p:cNvPr>
              <p:cNvSpPr txBox="1"/>
              <p:nvPr/>
            </p:nvSpPr>
            <p:spPr>
              <a:xfrm>
                <a:off x="7463048" y="2701413"/>
                <a:ext cx="299344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𝑒𝑛𝑑𝑠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023F20-1E40-22F9-C15E-27E174C8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701413"/>
                <a:ext cx="2993448" cy="307777"/>
              </a:xfrm>
              <a:prstGeom prst="rect">
                <a:avLst/>
              </a:prstGeom>
              <a:blipFill>
                <a:blip r:embed="rId3"/>
                <a:stretch>
                  <a:fillRect l="-1426" r="-611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4A2F4CD-A72F-77F1-806C-A29067F8A9AB}"/>
                  </a:ext>
                </a:extLst>
              </p:cNvPr>
              <p:cNvSpPr txBox="1"/>
              <p:nvPr/>
            </p:nvSpPr>
            <p:spPr>
              <a:xfrm>
                <a:off x="6787797" y="6200396"/>
                <a:ext cx="1114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4A2F4CD-A72F-77F1-806C-A29067F8A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797" y="6200396"/>
                <a:ext cx="1114985" cy="307777"/>
              </a:xfrm>
              <a:prstGeom prst="rect">
                <a:avLst/>
              </a:prstGeom>
              <a:blipFill>
                <a:blip r:embed="rId4"/>
                <a:stretch>
                  <a:fillRect l="-4918" t="-1961" r="-546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F6C797-23BD-98B7-94AE-EF6C6C0475A0}"/>
                  </a:ext>
                </a:extLst>
              </p:cNvPr>
              <p:cNvSpPr txBox="1"/>
              <p:nvPr/>
            </p:nvSpPr>
            <p:spPr>
              <a:xfrm>
                <a:off x="8368224" y="6203340"/>
                <a:ext cx="298398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𝑟h</m:t>
                      </m:r>
                    </m:oMath>
                  </m:oMathPara>
                </a14:m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F6C797-23BD-98B7-94AE-EF6C6C047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224" y="6203340"/>
                <a:ext cx="2983988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1EA9AF-91C6-89FE-B774-ED954FA81BEA}"/>
                  </a:ext>
                </a:extLst>
              </p:cNvPr>
              <p:cNvSpPr txBox="1"/>
              <p:nvPr/>
            </p:nvSpPr>
            <p:spPr>
              <a:xfrm>
                <a:off x="8083439" y="6522868"/>
                <a:ext cx="298398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1EA9AF-91C6-89FE-B774-ED954FA81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439" y="6522868"/>
                <a:ext cx="2983988" cy="615553"/>
              </a:xfrm>
              <a:prstGeom prst="rect">
                <a:avLst/>
              </a:prstGeom>
              <a:blipFill>
                <a:blip r:embed="rId6"/>
                <a:stretch>
                  <a:fillRect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632E15C-5E79-CE43-F315-899A2F63CC15}"/>
              </a:ext>
            </a:extLst>
          </p:cNvPr>
          <p:cNvGrpSpPr/>
          <p:nvPr/>
        </p:nvGrpSpPr>
        <p:grpSpPr>
          <a:xfrm>
            <a:off x="6643747" y="3859814"/>
            <a:ext cx="4116523" cy="2364646"/>
            <a:chOff x="7016975" y="1368122"/>
            <a:chExt cx="4116523" cy="236464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07E8566-EA2F-ABAB-4857-73D6A5D9C878}"/>
                </a:ext>
              </a:extLst>
            </p:cNvPr>
            <p:cNvSpPr txBox="1"/>
            <p:nvPr/>
          </p:nvSpPr>
          <p:spPr>
            <a:xfrm>
              <a:off x="7897625" y="191031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42" name="Cylinder 41">
              <a:extLst>
                <a:ext uri="{FF2B5EF4-FFF2-40B4-BE49-F238E27FC236}">
                  <a16:creationId xmlns:a16="http://schemas.microsoft.com/office/drawing/2014/main" id="{1E75949D-3856-5A9A-4687-FB18D4130C30}"/>
                </a:ext>
              </a:extLst>
            </p:cNvPr>
            <p:cNvSpPr/>
            <p:nvPr/>
          </p:nvSpPr>
          <p:spPr>
            <a:xfrm>
              <a:off x="7395816" y="2221468"/>
              <a:ext cx="914399" cy="151130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3A22772-35B9-B721-5093-FFF7AC04FAF6}"/>
                </a:ext>
              </a:extLst>
            </p:cNvPr>
            <p:cNvGrpSpPr/>
            <p:nvPr/>
          </p:nvGrpSpPr>
          <p:grpSpPr>
            <a:xfrm>
              <a:off x="7172627" y="2329934"/>
              <a:ext cx="180000" cy="1321316"/>
              <a:chOff x="7172627" y="2329934"/>
              <a:chExt cx="180000" cy="1321316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80B46A2-2F5C-9968-FCB5-BB03696B2A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2627" y="2329934"/>
                <a:ext cx="0" cy="1321316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1280278-82A0-0E4F-0551-59DBBC16DD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2329934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A4CB444-1B98-2308-F030-85DD36799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3651250"/>
                <a:ext cx="180000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65F1E03-0C45-54E3-9782-FD0BE477BD81}"/>
                </a:ext>
              </a:extLst>
            </p:cNvPr>
            <p:cNvSpPr txBox="1"/>
            <p:nvPr/>
          </p:nvSpPr>
          <p:spPr>
            <a:xfrm>
              <a:off x="7016975" y="279245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5C5A219-4AED-7A21-35D5-9884A35FA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015" y="2279650"/>
              <a:ext cx="416849" cy="449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7C7D69B-53DC-038C-D26C-9BE3CDC35B94}"/>
                </a:ext>
              </a:extLst>
            </p:cNvPr>
            <p:cNvGrpSpPr/>
            <p:nvPr/>
          </p:nvGrpSpPr>
          <p:grpSpPr>
            <a:xfrm>
              <a:off x="9043641" y="1368122"/>
              <a:ext cx="914398" cy="523281"/>
              <a:chOff x="9043641" y="1368122"/>
              <a:chExt cx="914398" cy="523281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E5D0C62-A205-210C-C1DC-BDE5A648C4D7}"/>
                  </a:ext>
                </a:extLst>
              </p:cNvPr>
              <p:cNvSpPr/>
              <p:nvPr/>
            </p:nvSpPr>
            <p:spPr>
              <a:xfrm>
                <a:off x="9043641" y="1655421"/>
                <a:ext cx="914398" cy="235982"/>
              </a:xfrm>
              <a:prstGeom prst="ellipse">
                <a:avLst/>
              </a:prstGeom>
              <a:solidFill>
                <a:srgbClr val="73A0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DC86EB-9356-3EFD-F50C-611553C06B91}"/>
                  </a:ext>
                </a:extLst>
              </p:cNvPr>
              <p:cNvSpPr txBox="1"/>
              <p:nvPr/>
            </p:nvSpPr>
            <p:spPr>
              <a:xfrm>
                <a:off x="9571165" y="1368122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20125FE-38E8-1AE5-7DBE-6C7C81C90D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6555" y="1737454"/>
                <a:ext cx="416849" cy="449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A74B8DA-19F7-68C3-3450-549D0D694042}"/>
                </a:ext>
              </a:extLst>
            </p:cNvPr>
            <p:cNvSpPr/>
            <p:nvPr/>
          </p:nvSpPr>
          <p:spPr>
            <a:xfrm>
              <a:off x="10219100" y="1655421"/>
              <a:ext cx="914398" cy="235982"/>
            </a:xfrm>
            <a:prstGeom prst="ellipse">
              <a:avLst/>
            </a:prstGeom>
            <a:solidFill>
              <a:srgbClr val="73A0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E5874-D0C4-A016-6805-5EEE693BE846}"/>
                </a:ext>
              </a:extLst>
            </p:cNvPr>
            <p:cNvSpPr/>
            <p:nvPr/>
          </p:nvSpPr>
          <p:spPr>
            <a:xfrm>
              <a:off x="9049404" y="2339981"/>
              <a:ext cx="914398" cy="12862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2B2C813-B0D2-4DF6-6ED4-6DF13EA67882}"/>
                </a:ext>
              </a:extLst>
            </p:cNvPr>
            <p:cNvGrpSpPr/>
            <p:nvPr/>
          </p:nvGrpSpPr>
          <p:grpSpPr>
            <a:xfrm>
              <a:off x="8863641" y="2328374"/>
              <a:ext cx="180000" cy="1298796"/>
              <a:chOff x="7172627" y="2325430"/>
              <a:chExt cx="180000" cy="1298796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5DEC046-244B-2D5E-4160-8483757D2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2627" y="2325430"/>
                <a:ext cx="0" cy="1297823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856CD74-DB58-882F-1623-342C0FB67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2329934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D6EDB96-4630-71BC-B5FA-C4AE7693C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3624226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37FC093-FE1B-042D-1017-218420AE5A32}"/>
                </a:ext>
              </a:extLst>
            </p:cNvPr>
            <p:cNvSpPr txBox="1"/>
            <p:nvPr/>
          </p:nvSpPr>
          <p:spPr>
            <a:xfrm>
              <a:off x="8707989" y="279539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1B6576E-AAB7-B7EB-0DF9-6773AE07F984}"/>
                </a:ext>
              </a:extLst>
            </p:cNvPr>
            <p:cNvSpPr txBox="1"/>
            <p:nvPr/>
          </p:nvSpPr>
          <p:spPr>
            <a:xfrm>
              <a:off x="9345072" y="2000843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8E5BB7E-92BA-3C40-E5E4-C70F3AE1E4B9}"/>
                  </a:ext>
                </a:extLst>
              </p:cNvPr>
              <p:cNvSpPr txBox="1"/>
              <p:nvPr/>
            </p:nvSpPr>
            <p:spPr>
              <a:xfrm>
                <a:off x="7463048" y="3058167"/>
                <a:ext cx="46045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=0.02×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𝑟h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×0.05×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8E5BB7E-92BA-3C40-E5E4-C70F3AE1E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3058167"/>
                <a:ext cx="4604594" cy="307777"/>
              </a:xfrm>
              <a:prstGeom prst="rect">
                <a:avLst/>
              </a:prstGeom>
              <a:blipFill>
                <a:blip r:embed="rId7"/>
                <a:stretch>
                  <a:fillRect l="-794" t="-4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74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Formulate the problem as equations: Volume and cost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Identify dependent and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Combine and formulate, having the dependent variable as a function of the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/>
              <p:nvPr/>
            </p:nvSpPr>
            <p:spPr>
              <a:xfrm>
                <a:off x="7463048" y="2210666"/>
                <a:ext cx="24779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210666"/>
                <a:ext cx="2477922" cy="307777"/>
              </a:xfrm>
              <a:prstGeom prst="rect">
                <a:avLst/>
              </a:prstGeom>
              <a:blipFill>
                <a:blip r:embed="rId2"/>
                <a:stretch>
                  <a:fillRect l="-1966" t="-4000" r="-73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1B0C7C-8FD1-1944-3294-F1C7528E42D9}"/>
              </a:ext>
            </a:extLst>
          </p:cNvPr>
          <p:cNvSpPr txBox="1"/>
          <p:nvPr/>
        </p:nvSpPr>
        <p:spPr>
          <a:xfrm>
            <a:off x="5981480" y="21337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Volume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67142-2D6E-B67E-5A2A-797E33308A3D}"/>
              </a:ext>
            </a:extLst>
          </p:cNvPr>
          <p:cNvSpPr txBox="1"/>
          <p:nvPr/>
        </p:nvSpPr>
        <p:spPr>
          <a:xfrm>
            <a:off x="5981480" y="2624469"/>
            <a:ext cx="108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023F20-1E40-22F9-C15E-27E174C8B301}"/>
                  </a:ext>
                </a:extLst>
              </p:cNvPr>
              <p:cNvSpPr txBox="1"/>
              <p:nvPr/>
            </p:nvSpPr>
            <p:spPr>
              <a:xfrm>
                <a:off x="7463048" y="2701413"/>
                <a:ext cx="299344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𝑒𝑛𝑑𝑠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023F20-1E40-22F9-C15E-27E174C8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701413"/>
                <a:ext cx="2993448" cy="307777"/>
              </a:xfrm>
              <a:prstGeom prst="rect">
                <a:avLst/>
              </a:prstGeom>
              <a:blipFill>
                <a:blip r:embed="rId3"/>
                <a:stretch>
                  <a:fillRect l="-1426" r="-611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4A2F4CD-A72F-77F1-806C-A29067F8A9AB}"/>
                  </a:ext>
                </a:extLst>
              </p:cNvPr>
              <p:cNvSpPr txBox="1"/>
              <p:nvPr/>
            </p:nvSpPr>
            <p:spPr>
              <a:xfrm>
                <a:off x="6787797" y="6200396"/>
                <a:ext cx="11149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4A2F4CD-A72F-77F1-806C-A29067F8A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797" y="6200396"/>
                <a:ext cx="1114985" cy="307777"/>
              </a:xfrm>
              <a:prstGeom prst="rect">
                <a:avLst/>
              </a:prstGeom>
              <a:blipFill>
                <a:blip r:embed="rId4"/>
                <a:stretch>
                  <a:fillRect l="-4918" t="-1961" r="-546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F6C797-23BD-98B7-94AE-EF6C6C0475A0}"/>
                  </a:ext>
                </a:extLst>
              </p:cNvPr>
              <p:cNvSpPr txBox="1"/>
              <p:nvPr/>
            </p:nvSpPr>
            <p:spPr>
              <a:xfrm>
                <a:off x="8368224" y="6203340"/>
                <a:ext cx="298398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𝑟h</m:t>
                      </m:r>
                    </m:oMath>
                  </m:oMathPara>
                </a14:m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F6C797-23BD-98B7-94AE-EF6C6C047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224" y="6203340"/>
                <a:ext cx="2983988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1EA9AF-91C6-89FE-B774-ED954FA81BEA}"/>
                  </a:ext>
                </a:extLst>
              </p:cNvPr>
              <p:cNvSpPr txBox="1"/>
              <p:nvPr/>
            </p:nvSpPr>
            <p:spPr>
              <a:xfrm>
                <a:off x="8083439" y="6522868"/>
                <a:ext cx="298398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1EA9AF-91C6-89FE-B774-ED954FA81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439" y="6522868"/>
                <a:ext cx="2983988" cy="615553"/>
              </a:xfrm>
              <a:prstGeom prst="rect">
                <a:avLst/>
              </a:prstGeom>
              <a:blipFill>
                <a:blip r:embed="rId6"/>
                <a:stretch>
                  <a:fillRect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632E15C-5E79-CE43-F315-899A2F63CC15}"/>
              </a:ext>
            </a:extLst>
          </p:cNvPr>
          <p:cNvGrpSpPr/>
          <p:nvPr/>
        </p:nvGrpSpPr>
        <p:grpSpPr>
          <a:xfrm>
            <a:off x="6643747" y="3859814"/>
            <a:ext cx="4116523" cy="2364646"/>
            <a:chOff x="7016975" y="1368122"/>
            <a:chExt cx="4116523" cy="236464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07E8566-EA2F-ABAB-4857-73D6A5D9C878}"/>
                </a:ext>
              </a:extLst>
            </p:cNvPr>
            <p:cNvSpPr txBox="1"/>
            <p:nvPr/>
          </p:nvSpPr>
          <p:spPr>
            <a:xfrm>
              <a:off x="7897625" y="191031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42" name="Cylinder 41">
              <a:extLst>
                <a:ext uri="{FF2B5EF4-FFF2-40B4-BE49-F238E27FC236}">
                  <a16:creationId xmlns:a16="http://schemas.microsoft.com/office/drawing/2014/main" id="{1E75949D-3856-5A9A-4687-FB18D4130C30}"/>
                </a:ext>
              </a:extLst>
            </p:cNvPr>
            <p:cNvSpPr/>
            <p:nvPr/>
          </p:nvSpPr>
          <p:spPr>
            <a:xfrm>
              <a:off x="7395816" y="2221468"/>
              <a:ext cx="914399" cy="151130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3A22772-35B9-B721-5093-FFF7AC04FAF6}"/>
                </a:ext>
              </a:extLst>
            </p:cNvPr>
            <p:cNvGrpSpPr/>
            <p:nvPr/>
          </p:nvGrpSpPr>
          <p:grpSpPr>
            <a:xfrm>
              <a:off x="7172627" y="2329934"/>
              <a:ext cx="180000" cy="1321316"/>
              <a:chOff x="7172627" y="2329934"/>
              <a:chExt cx="180000" cy="1321316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80B46A2-2F5C-9968-FCB5-BB03696B2A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2627" y="2329934"/>
                <a:ext cx="0" cy="1321316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1280278-82A0-0E4F-0551-59DBBC16DD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2329934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A4CB444-1B98-2308-F030-85DD36799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3651250"/>
                <a:ext cx="180000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65F1E03-0C45-54E3-9782-FD0BE477BD81}"/>
                </a:ext>
              </a:extLst>
            </p:cNvPr>
            <p:cNvSpPr txBox="1"/>
            <p:nvPr/>
          </p:nvSpPr>
          <p:spPr>
            <a:xfrm>
              <a:off x="7016975" y="279245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5C5A219-4AED-7A21-35D5-9884A35FA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015" y="2279650"/>
              <a:ext cx="416849" cy="449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7C7D69B-53DC-038C-D26C-9BE3CDC35B94}"/>
                </a:ext>
              </a:extLst>
            </p:cNvPr>
            <p:cNvGrpSpPr/>
            <p:nvPr/>
          </p:nvGrpSpPr>
          <p:grpSpPr>
            <a:xfrm>
              <a:off x="9043641" y="1368122"/>
              <a:ext cx="914398" cy="523281"/>
              <a:chOff x="9043641" y="1368122"/>
              <a:chExt cx="914398" cy="523281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E5D0C62-A205-210C-C1DC-BDE5A648C4D7}"/>
                  </a:ext>
                </a:extLst>
              </p:cNvPr>
              <p:cNvSpPr/>
              <p:nvPr/>
            </p:nvSpPr>
            <p:spPr>
              <a:xfrm>
                <a:off x="9043641" y="1655421"/>
                <a:ext cx="914398" cy="235982"/>
              </a:xfrm>
              <a:prstGeom prst="ellipse">
                <a:avLst/>
              </a:prstGeom>
              <a:solidFill>
                <a:srgbClr val="73A0B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DC86EB-9356-3EFD-F50C-611553C06B91}"/>
                  </a:ext>
                </a:extLst>
              </p:cNvPr>
              <p:cNvSpPr txBox="1"/>
              <p:nvPr/>
            </p:nvSpPr>
            <p:spPr>
              <a:xfrm>
                <a:off x="9571165" y="1368122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20125FE-38E8-1AE5-7DBE-6C7C81C90D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6555" y="1737454"/>
                <a:ext cx="416849" cy="4496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A74B8DA-19F7-68C3-3450-549D0D694042}"/>
                </a:ext>
              </a:extLst>
            </p:cNvPr>
            <p:cNvSpPr/>
            <p:nvPr/>
          </p:nvSpPr>
          <p:spPr>
            <a:xfrm>
              <a:off x="10219100" y="1655421"/>
              <a:ext cx="914398" cy="235982"/>
            </a:xfrm>
            <a:prstGeom prst="ellipse">
              <a:avLst/>
            </a:prstGeom>
            <a:solidFill>
              <a:srgbClr val="73A0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ABE5874-D0C4-A016-6805-5EEE693BE846}"/>
                </a:ext>
              </a:extLst>
            </p:cNvPr>
            <p:cNvSpPr/>
            <p:nvPr/>
          </p:nvSpPr>
          <p:spPr>
            <a:xfrm>
              <a:off x="9049404" y="2339981"/>
              <a:ext cx="914398" cy="12862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2B2C813-B0D2-4DF6-6ED4-6DF13EA67882}"/>
                </a:ext>
              </a:extLst>
            </p:cNvPr>
            <p:cNvGrpSpPr/>
            <p:nvPr/>
          </p:nvGrpSpPr>
          <p:grpSpPr>
            <a:xfrm>
              <a:off x="8863641" y="2328374"/>
              <a:ext cx="180000" cy="1298796"/>
              <a:chOff x="7172627" y="2325430"/>
              <a:chExt cx="180000" cy="1298796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5DEC046-244B-2D5E-4160-8483757D2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2627" y="2325430"/>
                <a:ext cx="0" cy="1297823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856CD74-DB58-882F-1623-342C0FB67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2329934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D6EDB96-4630-71BC-B5FA-C4AE7693C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2627" y="3624226"/>
                <a:ext cx="180000" cy="0"/>
              </a:xfrm>
              <a:prstGeom prst="line">
                <a:avLst/>
              </a:prstGeom>
              <a:ln w="952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37FC093-FE1B-042D-1017-218420AE5A32}"/>
                </a:ext>
              </a:extLst>
            </p:cNvPr>
            <p:cNvSpPr txBox="1"/>
            <p:nvPr/>
          </p:nvSpPr>
          <p:spPr>
            <a:xfrm>
              <a:off x="8707989" y="279539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1B6576E-AAB7-B7EB-0DF9-6773AE07F984}"/>
                </a:ext>
              </a:extLst>
            </p:cNvPr>
            <p:cNvSpPr txBox="1"/>
            <p:nvPr/>
          </p:nvSpPr>
          <p:spPr>
            <a:xfrm>
              <a:off x="9345072" y="2000843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8E5BB7E-92BA-3C40-E5E4-C70F3AE1E4B9}"/>
                  </a:ext>
                </a:extLst>
              </p:cNvPr>
              <p:cNvSpPr txBox="1"/>
              <p:nvPr/>
            </p:nvSpPr>
            <p:spPr>
              <a:xfrm>
                <a:off x="7463048" y="3058167"/>
                <a:ext cx="46045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=0.02×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𝑟h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×0.05×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8E5BB7E-92BA-3C40-E5E4-C70F3AE1E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3058167"/>
                <a:ext cx="4604594" cy="307777"/>
              </a:xfrm>
              <a:prstGeom prst="rect">
                <a:avLst/>
              </a:prstGeom>
              <a:blipFill>
                <a:blip r:embed="rId7"/>
                <a:stretch>
                  <a:fillRect l="-794" t="-4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/>
              <p:nvPr/>
            </p:nvSpPr>
            <p:spPr>
              <a:xfrm>
                <a:off x="7524397" y="3437982"/>
                <a:ext cx="286059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397" y="3437982"/>
                <a:ext cx="2860591" cy="307777"/>
              </a:xfrm>
              <a:prstGeom prst="rect">
                <a:avLst/>
              </a:prstGeom>
              <a:blipFill>
                <a:blip r:embed="rId8"/>
                <a:stretch>
                  <a:fillRect l="-1702" t="-4000" r="-426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378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Formulate the problem as equations: Volume and cost</a:t>
            </a:r>
          </a:p>
          <a:p>
            <a:r>
              <a:rPr lang="en-US" dirty="0"/>
              <a:t>Identify dependent and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Combine and formulate, having the dependent variable as a function of the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/>
              <p:nvPr/>
            </p:nvSpPr>
            <p:spPr>
              <a:xfrm>
                <a:off x="7463048" y="2210666"/>
                <a:ext cx="24779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210666"/>
                <a:ext cx="2477922" cy="307777"/>
              </a:xfrm>
              <a:prstGeom prst="rect">
                <a:avLst/>
              </a:prstGeom>
              <a:blipFill>
                <a:blip r:embed="rId2"/>
                <a:stretch>
                  <a:fillRect l="-2211" t="-4000" r="-98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1B0C7C-8FD1-1944-3294-F1C7528E42D9}"/>
              </a:ext>
            </a:extLst>
          </p:cNvPr>
          <p:cNvSpPr txBox="1"/>
          <p:nvPr/>
        </p:nvSpPr>
        <p:spPr>
          <a:xfrm>
            <a:off x="5981480" y="21337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Volume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67142-2D6E-B67E-5A2A-797E33308A3D}"/>
              </a:ext>
            </a:extLst>
          </p:cNvPr>
          <p:cNvSpPr txBox="1"/>
          <p:nvPr/>
        </p:nvSpPr>
        <p:spPr>
          <a:xfrm>
            <a:off x="5981480" y="2624469"/>
            <a:ext cx="108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/>
              <p:nvPr/>
            </p:nvSpPr>
            <p:spPr>
              <a:xfrm>
                <a:off x="7463048" y="2684363"/>
                <a:ext cx="2920478" cy="307777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684363"/>
                <a:ext cx="2920478" cy="307777"/>
              </a:xfrm>
              <a:prstGeom prst="rect">
                <a:avLst/>
              </a:prstGeom>
              <a:blipFill>
                <a:blip r:embed="rId3"/>
                <a:stretch>
                  <a:fillRect l="-1455" r="-624" b="-5660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67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Formulate the problem as equations: Volume and cost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Identify dependent and independent variables</a:t>
            </a:r>
          </a:p>
          <a:p>
            <a:r>
              <a:rPr lang="en-US" dirty="0"/>
              <a:t>Combine and formulate, having the dependent variable as a function of the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/>
              <p:nvPr/>
            </p:nvSpPr>
            <p:spPr>
              <a:xfrm>
                <a:off x="7463048" y="2210666"/>
                <a:ext cx="24963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210666"/>
                <a:ext cx="2496324" cy="307777"/>
              </a:xfrm>
              <a:prstGeom prst="rect">
                <a:avLst/>
              </a:prstGeom>
              <a:blipFill>
                <a:blip r:embed="rId2"/>
                <a:stretch>
                  <a:fillRect l="-1951" t="-4000" r="-732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1B0C7C-8FD1-1944-3294-F1C7528E42D9}"/>
              </a:ext>
            </a:extLst>
          </p:cNvPr>
          <p:cNvSpPr txBox="1"/>
          <p:nvPr/>
        </p:nvSpPr>
        <p:spPr>
          <a:xfrm>
            <a:off x="5981480" y="21337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Volume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67142-2D6E-B67E-5A2A-797E33308A3D}"/>
              </a:ext>
            </a:extLst>
          </p:cNvPr>
          <p:cNvSpPr txBox="1"/>
          <p:nvPr/>
        </p:nvSpPr>
        <p:spPr>
          <a:xfrm>
            <a:off x="6306332" y="3947909"/>
            <a:ext cx="108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/>
              <p:nvPr/>
            </p:nvSpPr>
            <p:spPr>
              <a:xfrm>
                <a:off x="7787900" y="4007803"/>
                <a:ext cx="292047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00" y="4007803"/>
                <a:ext cx="2920478" cy="307777"/>
              </a:xfrm>
              <a:prstGeom prst="rect">
                <a:avLst/>
              </a:prstGeom>
              <a:blipFill>
                <a:blip r:embed="rId3"/>
                <a:stretch>
                  <a:fillRect l="-1879" t="-1961" r="-626" b="-7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69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Formulate the problem as equations: Volume and cost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Identify dependent and independent variables</a:t>
            </a:r>
          </a:p>
          <a:p>
            <a:r>
              <a:rPr lang="en-US" dirty="0"/>
              <a:t>Combine and formulate, having the dependent variable as a function of the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/>
              <p:nvPr/>
            </p:nvSpPr>
            <p:spPr>
              <a:xfrm>
                <a:off x="7463048" y="2210666"/>
                <a:ext cx="24963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210666"/>
                <a:ext cx="2496324" cy="307777"/>
              </a:xfrm>
              <a:prstGeom prst="rect">
                <a:avLst/>
              </a:prstGeom>
              <a:blipFill>
                <a:blip r:embed="rId2"/>
                <a:stretch>
                  <a:fillRect l="-1951" t="-4000" r="-732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1B0C7C-8FD1-1944-3294-F1C7528E42D9}"/>
              </a:ext>
            </a:extLst>
          </p:cNvPr>
          <p:cNvSpPr txBox="1"/>
          <p:nvPr/>
        </p:nvSpPr>
        <p:spPr>
          <a:xfrm>
            <a:off x="5981480" y="21337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Volume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67142-2D6E-B67E-5A2A-797E33308A3D}"/>
              </a:ext>
            </a:extLst>
          </p:cNvPr>
          <p:cNvSpPr txBox="1"/>
          <p:nvPr/>
        </p:nvSpPr>
        <p:spPr>
          <a:xfrm>
            <a:off x="6306332" y="3947909"/>
            <a:ext cx="108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/>
              <p:nvPr/>
            </p:nvSpPr>
            <p:spPr>
              <a:xfrm>
                <a:off x="7787900" y="4007803"/>
                <a:ext cx="292047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00" y="4007803"/>
                <a:ext cx="2920478" cy="307777"/>
              </a:xfrm>
              <a:prstGeom prst="rect">
                <a:avLst/>
              </a:prstGeom>
              <a:blipFill>
                <a:blip r:embed="rId3"/>
                <a:stretch>
                  <a:fillRect l="-1879" t="-1961" r="-626" b="-7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D10DA8-74B4-2FCB-0CA4-9EB01B00618E}"/>
                  </a:ext>
                </a:extLst>
              </p:cNvPr>
              <p:cNvSpPr txBox="1"/>
              <p:nvPr/>
            </p:nvSpPr>
            <p:spPr>
              <a:xfrm>
                <a:off x="7463048" y="3097877"/>
                <a:ext cx="1105431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D10DA8-74B4-2FCB-0CA4-9EB01B006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3097877"/>
                <a:ext cx="1105431" cy="578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BF0D69-B251-E7DF-AD7D-1E64A8FC593E}"/>
              </a:ext>
            </a:extLst>
          </p:cNvPr>
          <p:cNvCxnSpPr/>
          <p:nvPr/>
        </p:nvCxnSpPr>
        <p:spPr>
          <a:xfrm>
            <a:off x="8169443" y="2595387"/>
            <a:ext cx="0" cy="290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823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Formulate the problem as equations: Volume and cost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Identify dependent and independent variables</a:t>
            </a:r>
          </a:p>
          <a:p>
            <a:r>
              <a:rPr lang="en-US" dirty="0"/>
              <a:t>Combine and formulate, having the dependent variable as a function of the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/>
              <p:nvPr/>
            </p:nvSpPr>
            <p:spPr>
              <a:xfrm>
                <a:off x="7463048" y="2210666"/>
                <a:ext cx="24963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210666"/>
                <a:ext cx="2496324" cy="307777"/>
              </a:xfrm>
              <a:prstGeom prst="rect">
                <a:avLst/>
              </a:prstGeom>
              <a:blipFill>
                <a:blip r:embed="rId2"/>
                <a:stretch>
                  <a:fillRect l="-1951" t="-4000" r="-732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1B0C7C-8FD1-1944-3294-F1C7528E42D9}"/>
              </a:ext>
            </a:extLst>
          </p:cNvPr>
          <p:cNvSpPr txBox="1"/>
          <p:nvPr/>
        </p:nvSpPr>
        <p:spPr>
          <a:xfrm>
            <a:off x="5981480" y="21337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Volume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67142-2D6E-B67E-5A2A-797E33308A3D}"/>
              </a:ext>
            </a:extLst>
          </p:cNvPr>
          <p:cNvSpPr txBox="1"/>
          <p:nvPr/>
        </p:nvSpPr>
        <p:spPr>
          <a:xfrm>
            <a:off x="6306332" y="3947909"/>
            <a:ext cx="108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/>
              <p:nvPr/>
            </p:nvSpPr>
            <p:spPr>
              <a:xfrm>
                <a:off x="7787900" y="4007803"/>
                <a:ext cx="292047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00" y="4007803"/>
                <a:ext cx="2920478" cy="307777"/>
              </a:xfrm>
              <a:prstGeom prst="rect">
                <a:avLst/>
              </a:prstGeom>
              <a:blipFill>
                <a:blip r:embed="rId3"/>
                <a:stretch>
                  <a:fillRect l="-1879" t="-1961" r="-626" b="-7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D10DA8-74B4-2FCB-0CA4-9EB01B00618E}"/>
                  </a:ext>
                </a:extLst>
              </p:cNvPr>
              <p:cNvSpPr txBox="1"/>
              <p:nvPr/>
            </p:nvSpPr>
            <p:spPr>
              <a:xfrm>
                <a:off x="7463048" y="3097877"/>
                <a:ext cx="1105431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D10DA8-74B4-2FCB-0CA4-9EB01B006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3097877"/>
                <a:ext cx="1105431" cy="578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BF0D69-B251-E7DF-AD7D-1E64A8FC593E}"/>
              </a:ext>
            </a:extLst>
          </p:cNvPr>
          <p:cNvCxnSpPr/>
          <p:nvPr/>
        </p:nvCxnSpPr>
        <p:spPr>
          <a:xfrm>
            <a:off x="8169443" y="2595387"/>
            <a:ext cx="0" cy="290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EDC6E0-1233-4BCD-8932-4CC45698262F}"/>
                  </a:ext>
                </a:extLst>
              </p:cNvPr>
              <p:cNvSpPr txBox="1"/>
              <p:nvPr/>
            </p:nvSpPr>
            <p:spPr>
              <a:xfrm>
                <a:off x="7787900" y="4574646"/>
                <a:ext cx="3669851" cy="6915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EDC6E0-1233-4BCD-8932-4CC456982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00" y="4574646"/>
                <a:ext cx="3669851" cy="6915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124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Formulate the problem as equations: Volume and cost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Identify dependent and independent variables</a:t>
            </a:r>
          </a:p>
          <a:p>
            <a:r>
              <a:rPr lang="en-US" dirty="0"/>
              <a:t>Combine and formulate, having the dependent variable as a function of the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/>
              <p:nvPr/>
            </p:nvSpPr>
            <p:spPr>
              <a:xfrm>
                <a:off x="7463048" y="2210666"/>
                <a:ext cx="24963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8B316-2CEB-CC1D-7CC8-3BADF66E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2210666"/>
                <a:ext cx="2496324" cy="307777"/>
              </a:xfrm>
              <a:prstGeom prst="rect">
                <a:avLst/>
              </a:prstGeom>
              <a:blipFill>
                <a:blip r:embed="rId2"/>
                <a:stretch>
                  <a:fillRect l="-1951" t="-4000" r="-732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01B0C7C-8FD1-1944-3294-F1C7528E42D9}"/>
              </a:ext>
            </a:extLst>
          </p:cNvPr>
          <p:cNvSpPr txBox="1"/>
          <p:nvPr/>
        </p:nvSpPr>
        <p:spPr>
          <a:xfrm>
            <a:off x="5981480" y="21337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Volume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67142-2D6E-B67E-5A2A-797E33308A3D}"/>
              </a:ext>
            </a:extLst>
          </p:cNvPr>
          <p:cNvSpPr txBox="1"/>
          <p:nvPr/>
        </p:nvSpPr>
        <p:spPr>
          <a:xfrm>
            <a:off x="6306332" y="3947909"/>
            <a:ext cx="108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/>
              <p:nvPr/>
            </p:nvSpPr>
            <p:spPr>
              <a:xfrm>
                <a:off x="7787900" y="4007803"/>
                <a:ext cx="292047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EE178BC-E9A7-68BF-61AA-3FE2FA39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00" y="4007803"/>
                <a:ext cx="2920478" cy="307777"/>
              </a:xfrm>
              <a:prstGeom prst="rect">
                <a:avLst/>
              </a:prstGeom>
              <a:blipFill>
                <a:blip r:embed="rId3"/>
                <a:stretch>
                  <a:fillRect l="-1879" t="-1961" r="-626" b="-7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D10DA8-74B4-2FCB-0CA4-9EB01B00618E}"/>
                  </a:ext>
                </a:extLst>
              </p:cNvPr>
              <p:cNvSpPr txBox="1"/>
              <p:nvPr/>
            </p:nvSpPr>
            <p:spPr>
              <a:xfrm>
                <a:off x="7463048" y="3097877"/>
                <a:ext cx="1105431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D10DA8-74B4-2FCB-0CA4-9EB01B006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48" y="3097877"/>
                <a:ext cx="1105431" cy="578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BF0D69-B251-E7DF-AD7D-1E64A8FC593E}"/>
              </a:ext>
            </a:extLst>
          </p:cNvPr>
          <p:cNvCxnSpPr/>
          <p:nvPr/>
        </p:nvCxnSpPr>
        <p:spPr>
          <a:xfrm>
            <a:off x="8169443" y="2595387"/>
            <a:ext cx="0" cy="290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EDC6E0-1233-4BCD-8932-4CC45698262F}"/>
                  </a:ext>
                </a:extLst>
              </p:cNvPr>
              <p:cNvSpPr txBox="1"/>
              <p:nvPr/>
            </p:nvSpPr>
            <p:spPr>
              <a:xfrm>
                <a:off x="7787900" y="4574646"/>
                <a:ext cx="3669851" cy="6915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EDC6E0-1233-4BCD-8932-4CC456982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00" y="4574646"/>
                <a:ext cx="3669851" cy="6915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6395DB-E206-5FC7-BFCE-D8DF2C55D0C4}"/>
                  </a:ext>
                </a:extLst>
              </p:cNvPr>
              <p:cNvSpPr txBox="1"/>
              <p:nvPr/>
            </p:nvSpPr>
            <p:spPr>
              <a:xfrm>
                <a:off x="7759692" y="5498127"/>
                <a:ext cx="2276392" cy="5761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6395DB-E206-5FC7-BFCE-D8DF2C55D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692" y="5498127"/>
                <a:ext cx="2276392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216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Formulate the problem as equations: Volume and cost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Identify dependent and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Combine and formulate, having the dependent variable as a function of the independent variables</a:t>
            </a:r>
          </a:p>
          <a:p>
            <a:r>
              <a:rPr lang="en-US" dirty="0"/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6395DB-E206-5FC7-BFCE-D8DF2C55D0C4}"/>
                  </a:ext>
                </a:extLst>
              </p:cNvPr>
              <p:cNvSpPr txBox="1"/>
              <p:nvPr/>
            </p:nvSpPr>
            <p:spPr>
              <a:xfrm>
                <a:off x="7494998" y="1952279"/>
                <a:ext cx="2276392" cy="5761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6395DB-E206-5FC7-BFCE-D8DF2C55D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4998" y="1952279"/>
                <a:ext cx="2276392" cy="5761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8DF7034-467A-A365-AB32-0D50BC82E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506" y="2793166"/>
            <a:ext cx="5150891" cy="353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72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5A16-EDA4-2E59-52B6-57E48917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2DD4BD-619C-F9F5-1BAD-1FD2060E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038DB-9D7A-E4BD-BB0E-5E300FB58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Formulate the problem as equations: Volume and cost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Identify dependent and independent variables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Combine and formulate, having the dependent variable as a function of the independent variables</a:t>
            </a:r>
          </a:p>
          <a:p>
            <a:r>
              <a:rPr lang="en-US" dirty="0"/>
              <a:t>Find the optimal solution out of the infinite possibilities.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6395DB-E206-5FC7-BFCE-D8DF2C55D0C4}"/>
                  </a:ext>
                </a:extLst>
              </p:cNvPr>
              <p:cNvSpPr txBox="1"/>
              <p:nvPr/>
            </p:nvSpPr>
            <p:spPr>
              <a:xfrm>
                <a:off x="6676848" y="1794891"/>
                <a:ext cx="2276392" cy="5761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6395DB-E206-5FC7-BFCE-D8DF2C55D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48" y="1794891"/>
                <a:ext cx="2276392" cy="5761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31097C-A2B7-495F-DB61-286CD91A2E2C}"/>
                  </a:ext>
                </a:extLst>
              </p:cNvPr>
              <p:cNvSpPr txBox="1"/>
              <p:nvPr/>
            </p:nvSpPr>
            <p:spPr>
              <a:xfrm>
                <a:off x="6676848" y="2549247"/>
                <a:ext cx="2541080" cy="584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𝒅𝑪𝒐𝒔𝒕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𝒅𝒓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31097C-A2B7-495F-DB61-286CD91A2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48" y="2549247"/>
                <a:ext cx="2541080" cy="584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9C95AE-AE58-EA1D-747B-296EB8F50673}"/>
                  </a:ext>
                </a:extLst>
              </p:cNvPr>
              <p:cNvSpPr txBox="1"/>
              <p:nvPr/>
            </p:nvSpPr>
            <p:spPr>
              <a:xfrm>
                <a:off x="7418322" y="3626618"/>
                <a:ext cx="1238929" cy="584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𝒅𝑪𝒐𝒔𝒕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𝒅𝒓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9C95AE-AE58-EA1D-747B-296EB8F50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322" y="3626618"/>
                <a:ext cx="1238929" cy="5845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D39096B-C016-0492-3517-310E1A572A2B}"/>
              </a:ext>
            </a:extLst>
          </p:cNvPr>
          <p:cNvSpPr txBox="1"/>
          <p:nvPr/>
        </p:nvSpPr>
        <p:spPr>
          <a:xfrm>
            <a:off x="8234696" y="3159169"/>
            <a:ext cx="2541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Optimal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647008-24DE-D208-0963-ABC869E472D4}"/>
                  </a:ext>
                </a:extLst>
              </p:cNvPr>
              <p:cNvSpPr txBox="1"/>
              <p:nvPr/>
            </p:nvSpPr>
            <p:spPr>
              <a:xfrm>
                <a:off x="6534216" y="4302807"/>
                <a:ext cx="2419023" cy="5761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+0.2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647008-24DE-D208-0963-ABC869E47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216" y="4302807"/>
                <a:ext cx="2419023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128A7A-9B6B-75B0-D4EB-632DD2EEE5CB}"/>
                  </a:ext>
                </a:extLst>
              </p:cNvPr>
              <p:cNvSpPr txBox="1"/>
              <p:nvPr/>
            </p:nvSpPr>
            <p:spPr>
              <a:xfrm>
                <a:off x="6534215" y="5038138"/>
                <a:ext cx="241902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+0.2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128A7A-9B6B-75B0-D4EB-632DD2EEE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215" y="5038138"/>
                <a:ext cx="2419023" cy="307777"/>
              </a:xfrm>
              <a:prstGeom prst="rect">
                <a:avLst/>
              </a:prstGeom>
              <a:blipFill>
                <a:blip r:embed="rId6"/>
                <a:stretch>
                  <a:fillRect t="-1961"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E099D5-B74B-2E6F-FF78-789763D3FC4A}"/>
                  </a:ext>
                </a:extLst>
              </p:cNvPr>
              <p:cNvSpPr txBox="1"/>
              <p:nvPr/>
            </p:nvSpPr>
            <p:spPr>
              <a:xfrm>
                <a:off x="6676848" y="5565120"/>
                <a:ext cx="2419023" cy="5782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E099D5-B74B-2E6F-FF78-789763D3F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48" y="5565120"/>
                <a:ext cx="2419023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B7CED5-815F-D072-7041-F41A8ABC392A}"/>
              </a:ext>
            </a:extLst>
          </p:cNvPr>
          <p:cNvCxnSpPr/>
          <p:nvPr/>
        </p:nvCxnSpPr>
        <p:spPr>
          <a:xfrm>
            <a:off x="9420726" y="3758969"/>
            <a:ext cx="0" cy="26297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022ED7-19FE-24F9-EBE0-548B98FCBA78}"/>
                  </a:ext>
                </a:extLst>
              </p:cNvPr>
              <p:cNvSpPr txBox="1"/>
              <p:nvPr/>
            </p:nvSpPr>
            <p:spPr>
              <a:xfrm>
                <a:off x="6979174" y="6388762"/>
                <a:ext cx="9682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022ED7-19FE-24F9-EBE0-548B98FCB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174" y="6388762"/>
                <a:ext cx="968214" cy="276999"/>
              </a:xfrm>
              <a:prstGeom prst="rect">
                <a:avLst/>
              </a:prstGeom>
              <a:blipFill>
                <a:blip r:embed="rId8"/>
                <a:stretch>
                  <a:fillRect l="-3774" r="-566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D5A543-B252-3AA4-F96E-3D47DCC4D3C3}"/>
                  </a:ext>
                </a:extLst>
              </p:cNvPr>
              <p:cNvSpPr txBox="1"/>
              <p:nvPr/>
            </p:nvSpPr>
            <p:spPr>
              <a:xfrm>
                <a:off x="9563358" y="4590898"/>
                <a:ext cx="1589858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3.99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D5A543-B252-3AA4-F96E-3D47DCC4D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358" y="4590898"/>
                <a:ext cx="1589858" cy="5782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9E2128-1B27-26B9-A2C1-947608AC2DBF}"/>
                  </a:ext>
                </a:extLst>
              </p:cNvPr>
              <p:cNvSpPr txBox="1"/>
              <p:nvPr/>
            </p:nvSpPr>
            <p:spPr>
              <a:xfrm>
                <a:off x="9563358" y="5565120"/>
                <a:ext cx="12608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𝟗𝟔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9E2128-1B27-26B9-A2C1-947608AC2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358" y="5565120"/>
                <a:ext cx="1260858" cy="307777"/>
              </a:xfrm>
              <a:prstGeom prst="rect">
                <a:avLst/>
              </a:prstGeom>
              <a:blipFill>
                <a:blip r:embed="rId10"/>
                <a:stretch>
                  <a:fillRect l="-5314" r="-4348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F685AD-B5BB-E3EA-0A01-A714D1A73EAA}"/>
                  </a:ext>
                </a:extLst>
              </p:cNvPr>
              <p:cNvSpPr txBox="1"/>
              <p:nvPr/>
            </p:nvSpPr>
            <p:spPr>
              <a:xfrm>
                <a:off x="9563358" y="3841276"/>
                <a:ext cx="1105431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F685AD-B5BB-E3EA-0A01-A714D1A73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358" y="3841276"/>
                <a:ext cx="1105431" cy="5781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766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F3E4D-C0C4-BF1E-E20E-437C2EC6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Optimization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EEB8A0-98F2-D32A-2689-B6309CCF92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While some problems can be solved analytically, sometimes</a:t>
            </a:r>
          </a:p>
          <a:p>
            <a:pPr lvl="1"/>
            <a:r>
              <a:rPr lang="en-US" dirty="0"/>
              <a:t>The math is too complex</a:t>
            </a:r>
          </a:p>
          <a:p>
            <a:pPr lvl="1"/>
            <a:r>
              <a:rPr lang="en-US" dirty="0"/>
              <a:t>A closed-form solution is impossible</a:t>
            </a:r>
          </a:p>
          <a:p>
            <a:pPr lvl="1"/>
            <a:r>
              <a:rPr lang="en-US" dirty="0"/>
              <a:t>It is hard to formulate constrains</a:t>
            </a:r>
          </a:p>
          <a:p>
            <a:endParaRPr lang="en-US" dirty="0"/>
          </a:p>
          <a:p>
            <a:r>
              <a:rPr lang="en-US" dirty="0"/>
              <a:t>In those cases, you can use numerical methods, e.g.</a:t>
            </a:r>
          </a:p>
          <a:p>
            <a:pPr lvl="1"/>
            <a:r>
              <a:rPr lang="en-US" dirty="0" err="1"/>
              <a:t>Matlab’s</a:t>
            </a:r>
            <a:r>
              <a:rPr lang="en-US" dirty="0"/>
              <a:t> </a:t>
            </a:r>
            <a:r>
              <a:rPr lang="en-US" dirty="0" err="1"/>
              <a:t>fminsearch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17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F3E4D-C0C4-BF1E-E20E-437C2EC6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Optimization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EEB8A0-98F2-D32A-2689-B6309CCF92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While some problems can be solved analytically, sometimes</a:t>
            </a:r>
          </a:p>
          <a:p>
            <a:pPr lvl="1"/>
            <a:r>
              <a:rPr lang="en-US" dirty="0"/>
              <a:t>The math is too complex</a:t>
            </a:r>
          </a:p>
          <a:p>
            <a:pPr lvl="1"/>
            <a:r>
              <a:rPr lang="en-US" dirty="0"/>
              <a:t>A closed-form solution is impossible</a:t>
            </a:r>
          </a:p>
          <a:p>
            <a:pPr lvl="1"/>
            <a:r>
              <a:rPr lang="en-US" dirty="0"/>
              <a:t>It is hard to formulate constrains</a:t>
            </a:r>
          </a:p>
          <a:p>
            <a:endParaRPr lang="en-US" dirty="0"/>
          </a:p>
          <a:p>
            <a:r>
              <a:rPr lang="en-US" dirty="0"/>
              <a:t>In those cases, you can use numerical methods, e.g.</a:t>
            </a:r>
          </a:p>
          <a:p>
            <a:pPr lvl="1"/>
            <a:r>
              <a:rPr lang="en-US" dirty="0" err="1"/>
              <a:t>Matlab’s</a:t>
            </a:r>
            <a:r>
              <a:rPr lang="en-US" dirty="0"/>
              <a:t> </a:t>
            </a:r>
            <a:r>
              <a:rPr lang="en-US" dirty="0" err="1"/>
              <a:t>fminsearch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66963C-E7B1-0090-216B-6AE883F564AD}"/>
                  </a:ext>
                </a:extLst>
              </p:cNvPr>
              <p:cNvSpPr txBox="1"/>
              <p:nvPr/>
            </p:nvSpPr>
            <p:spPr>
              <a:xfrm>
                <a:off x="7615314" y="1470065"/>
                <a:ext cx="2276392" cy="5761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66963C-E7B1-0090-216B-6AE883F56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314" y="1470065"/>
                <a:ext cx="2276392" cy="5761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DE264BF-1DEF-4D48-A62C-48FD42CCF1C6}"/>
              </a:ext>
            </a:extLst>
          </p:cNvPr>
          <p:cNvSpPr txBox="1"/>
          <p:nvPr/>
        </p:nvSpPr>
        <p:spPr>
          <a:xfrm>
            <a:off x="6692565" y="2406147"/>
            <a:ext cx="609399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% Define cost as a function of radius</a:t>
            </a:r>
          </a:p>
          <a:p>
            <a:r>
              <a:rPr lang="en-US" dirty="0" err="1"/>
              <a:t>costFunc</a:t>
            </a:r>
            <a:r>
              <a:rPr lang="en-US" dirty="0"/>
              <a:t> = @(r) (40 ./ r) + 0.10 * pi * r.^2;</a:t>
            </a:r>
          </a:p>
          <a:p>
            <a:endParaRPr lang="en-US" dirty="0"/>
          </a:p>
          <a:p>
            <a:r>
              <a:rPr lang="en-US" dirty="0"/>
              <a:t>% Initial guess</a:t>
            </a:r>
          </a:p>
          <a:p>
            <a:r>
              <a:rPr lang="en-US" dirty="0"/>
              <a:t>r0 = 5;</a:t>
            </a:r>
          </a:p>
          <a:p>
            <a:endParaRPr lang="en-US" dirty="0"/>
          </a:p>
          <a:p>
            <a:r>
              <a:rPr lang="en-US" dirty="0"/>
              <a:t>% Run optimization</a:t>
            </a:r>
          </a:p>
          <a:p>
            <a:r>
              <a:rPr lang="en-US" dirty="0"/>
              <a:t>[</a:t>
            </a:r>
            <a:r>
              <a:rPr lang="en-US" dirty="0" err="1"/>
              <a:t>optR</a:t>
            </a:r>
            <a:r>
              <a:rPr lang="en-US" dirty="0"/>
              <a:t>, </a:t>
            </a:r>
            <a:r>
              <a:rPr lang="en-US" dirty="0" err="1"/>
              <a:t>minCost</a:t>
            </a:r>
            <a:r>
              <a:rPr lang="en-US" dirty="0"/>
              <a:t>] = </a:t>
            </a:r>
            <a:r>
              <a:rPr lang="en-US" dirty="0" err="1"/>
              <a:t>fminsearch</a:t>
            </a:r>
            <a:r>
              <a:rPr lang="en-US" dirty="0"/>
              <a:t>(</a:t>
            </a:r>
            <a:r>
              <a:rPr lang="en-US" dirty="0" err="1"/>
              <a:t>costFunc</a:t>
            </a:r>
            <a:r>
              <a:rPr lang="en-US" dirty="0"/>
              <a:t>, r0);</a:t>
            </a:r>
          </a:p>
          <a:p>
            <a:endParaRPr lang="en-US" dirty="0"/>
          </a:p>
          <a:p>
            <a:r>
              <a:rPr lang="en-US" dirty="0"/>
              <a:t>% Calculate corresponding height</a:t>
            </a:r>
          </a:p>
          <a:p>
            <a:r>
              <a:rPr lang="en-US" dirty="0" err="1"/>
              <a:t>optH</a:t>
            </a:r>
            <a:r>
              <a:rPr lang="en-US" dirty="0"/>
              <a:t> = 1000 / (pi * optR^2);</a:t>
            </a:r>
          </a:p>
          <a:p>
            <a:endParaRPr lang="en-US" dirty="0"/>
          </a:p>
          <a:p>
            <a:r>
              <a:rPr lang="en-US" dirty="0" err="1"/>
              <a:t>fprintf</a:t>
            </a:r>
            <a:r>
              <a:rPr lang="en-US" dirty="0"/>
              <a:t>('Optimal radius: %.2f cm\n', </a:t>
            </a:r>
            <a:r>
              <a:rPr lang="en-US" dirty="0" err="1"/>
              <a:t>optR</a:t>
            </a:r>
            <a:r>
              <a:rPr lang="en-US" dirty="0"/>
              <a:t>);</a:t>
            </a:r>
          </a:p>
          <a:p>
            <a:r>
              <a:rPr lang="en-US" dirty="0" err="1"/>
              <a:t>fprintf</a:t>
            </a:r>
            <a:r>
              <a:rPr lang="en-US" dirty="0"/>
              <a:t>('Optimal height: %.2f cm\n', </a:t>
            </a:r>
            <a:r>
              <a:rPr lang="en-US" dirty="0" err="1"/>
              <a:t>optH</a:t>
            </a:r>
            <a:r>
              <a:rPr lang="en-US" dirty="0"/>
              <a:t>);</a:t>
            </a:r>
          </a:p>
          <a:p>
            <a:r>
              <a:rPr lang="en-US" dirty="0" err="1"/>
              <a:t>fprintf</a:t>
            </a:r>
            <a:r>
              <a:rPr lang="en-US" dirty="0"/>
              <a:t>('Minimum cost: %.2f $\n', </a:t>
            </a:r>
            <a:r>
              <a:rPr lang="en-US" dirty="0" err="1"/>
              <a:t>minCost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56279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A1D2BE-E986-7510-2C00-D4C0A17A6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 or </a:t>
            </a:r>
            <a:r>
              <a:rPr lang="en-US" dirty="0" err="1"/>
              <a:t>Matlab’s</a:t>
            </a:r>
            <a:r>
              <a:rPr lang="en-US" dirty="0"/>
              <a:t> </a:t>
            </a:r>
            <a:r>
              <a:rPr lang="en-US" i="1" dirty="0" err="1"/>
              <a:t>patternsearch</a:t>
            </a:r>
            <a:endParaRPr 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324F0-1B68-5F59-E228-7AA6FF7E483A}"/>
              </a:ext>
            </a:extLst>
          </p:cNvPr>
          <p:cNvSpPr txBox="1"/>
          <p:nvPr/>
        </p:nvSpPr>
        <p:spPr>
          <a:xfrm>
            <a:off x="6331619" y="117693"/>
            <a:ext cx="609399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%% Step 5 (Alternative): Numerical Optimization Using </a:t>
            </a:r>
            <a:r>
              <a:rPr lang="en-US" dirty="0" err="1"/>
              <a:t>patternsearch</a:t>
            </a:r>
            <a:endParaRPr lang="en-US" dirty="0"/>
          </a:p>
          <a:p>
            <a:r>
              <a:rPr lang="en-US" dirty="0"/>
              <a:t>% Requires Global Optimization Toolbox</a:t>
            </a:r>
          </a:p>
          <a:p>
            <a:endParaRPr lang="en-US" dirty="0"/>
          </a:p>
          <a:p>
            <a:r>
              <a:rPr lang="en-US" dirty="0" err="1"/>
              <a:t>costFunc</a:t>
            </a:r>
            <a:r>
              <a:rPr lang="en-US" dirty="0"/>
              <a:t> = @(r) (40 ./ r) + 0.10 * pi * r.^2;</a:t>
            </a:r>
          </a:p>
          <a:p>
            <a:endParaRPr lang="en-US" dirty="0"/>
          </a:p>
          <a:p>
            <a:r>
              <a:rPr lang="en-US" dirty="0"/>
              <a:t>% Bounds: radius must be positive and realistic</a:t>
            </a:r>
          </a:p>
          <a:p>
            <a:r>
              <a:rPr lang="en-US" dirty="0" err="1"/>
              <a:t>lb</a:t>
            </a:r>
            <a:r>
              <a:rPr lang="en-US" dirty="0"/>
              <a:t> = 0.1;  % lower bound</a:t>
            </a:r>
          </a:p>
          <a:p>
            <a:r>
              <a:rPr lang="en-US" dirty="0" err="1"/>
              <a:t>ub</a:t>
            </a:r>
            <a:r>
              <a:rPr lang="en-US" dirty="0"/>
              <a:t> = 20;   % upper bound</a:t>
            </a:r>
          </a:p>
          <a:p>
            <a:r>
              <a:rPr lang="en-US" dirty="0"/>
              <a:t>r0 = 1;    % initial guess</a:t>
            </a:r>
          </a:p>
          <a:p>
            <a:endParaRPr lang="en-US" dirty="0"/>
          </a:p>
          <a:p>
            <a:r>
              <a:rPr lang="en-US" dirty="0"/>
              <a:t>% Run </a:t>
            </a:r>
            <a:r>
              <a:rPr lang="en-US" dirty="0" err="1"/>
              <a:t>patternsearch</a:t>
            </a:r>
            <a:endParaRPr lang="en-US" dirty="0"/>
          </a:p>
          <a:p>
            <a:r>
              <a:rPr lang="en-US" dirty="0"/>
              <a:t>opts = </a:t>
            </a:r>
            <a:r>
              <a:rPr lang="en-US" dirty="0" err="1"/>
              <a:t>optimoptions</a:t>
            </a:r>
            <a:r>
              <a:rPr lang="en-US" dirty="0"/>
              <a:t>('</a:t>
            </a:r>
            <a:r>
              <a:rPr lang="en-US" dirty="0" err="1"/>
              <a:t>patternsearch</a:t>
            </a:r>
            <a:r>
              <a:rPr lang="en-US" dirty="0"/>
              <a:t>', 'Display', '</a:t>
            </a:r>
            <a:r>
              <a:rPr lang="en-US" dirty="0" err="1"/>
              <a:t>iter</a:t>
            </a:r>
            <a:r>
              <a:rPr lang="en-US" dirty="0"/>
              <a:t>'); % '</a:t>
            </a:r>
            <a:r>
              <a:rPr lang="en-US" dirty="0" err="1"/>
              <a:t>iter</a:t>
            </a:r>
            <a:r>
              <a:rPr lang="en-US" dirty="0"/>
              <a:t>' to show output</a:t>
            </a:r>
          </a:p>
          <a:p>
            <a:r>
              <a:rPr lang="en-US" dirty="0"/>
              <a:t>[</a:t>
            </a:r>
            <a:r>
              <a:rPr lang="en-US" dirty="0" err="1"/>
              <a:t>optR_ps</a:t>
            </a:r>
            <a:r>
              <a:rPr lang="en-US" dirty="0"/>
              <a:t>, </a:t>
            </a:r>
            <a:r>
              <a:rPr lang="en-US" dirty="0" err="1"/>
              <a:t>minCost_ps</a:t>
            </a:r>
            <a:r>
              <a:rPr lang="en-US" dirty="0"/>
              <a:t>] = </a:t>
            </a:r>
            <a:r>
              <a:rPr lang="en-US" dirty="0" err="1"/>
              <a:t>patternsearch</a:t>
            </a:r>
            <a:r>
              <a:rPr lang="en-US" dirty="0"/>
              <a:t>(</a:t>
            </a:r>
            <a:r>
              <a:rPr lang="en-US" dirty="0" err="1"/>
              <a:t>costFunc</a:t>
            </a:r>
            <a:r>
              <a:rPr lang="en-US" dirty="0"/>
              <a:t>, r0, [], [], [], [], </a:t>
            </a:r>
            <a:r>
              <a:rPr lang="en-US" dirty="0" err="1"/>
              <a:t>lb</a:t>
            </a:r>
            <a:r>
              <a:rPr lang="en-US" dirty="0"/>
              <a:t>, </a:t>
            </a:r>
            <a:r>
              <a:rPr lang="en-US" dirty="0" err="1"/>
              <a:t>ub</a:t>
            </a:r>
            <a:r>
              <a:rPr lang="en-US" dirty="0"/>
              <a:t>, [], opts);</a:t>
            </a:r>
          </a:p>
          <a:p>
            <a:endParaRPr lang="en-US" dirty="0"/>
          </a:p>
          <a:p>
            <a:r>
              <a:rPr lang="en-US" dirty="0"/>
              <a:t>% Calculate height using volume constraint</a:t>
            </a:r>
          </a:p>
          <a:p>
            <a:r>
              <a:rPr lang="en-US" dirty="0" err="1"/>
              <a:t>optH_ps</a:t>
            </a:r>
            <a:r>
              <a:rPr lang="en-US" dirty="0"/>
              <a:t> = 1000 / (pi * optR_ps^2);</a:t>
            </a:r>
          </a:p>
          <a:p>
            <a:endParaRPr lang="en-US" dirty="0"/>
          </a:p>
          <a:p>
            <a:r>
              <a:rPr lang="en-US" dirty="0" err="1"/>
              <a:t>fprintf</a:t>
            </a:r>
            <a:r>
              <a:rPr lang="en-US" dirty="0"/>
              <a:t>('\n\</a:t>
            </a:r>
            <a:r>
              <a:rPr lang="en-US" dirty="0" err="1"/>
              <a:t>nNumerical</a:t>
            </a:r>
            <a:r>
              <a:rPr lang="en-US" dirty="0"/>
              <a:t> Solution (</a:t>
            </a:r>
            <a:r>
              <a:rPr lang="en-US" dirty="0" err="1"/>
              <a:t>patternsearch</a:t>
            </a:r>
            <a:r>
              <a:rPr lang="en-US" dirty="0"/>
              <a:t>):\n\n');</a:t>
            </a:r>
          </a:p>
          <a:p>
            <a:r>
              <a:rPr lang="en-US" dirty="0" err="1"/>
              <a:t>fprintf</a:t>
            </a:r>
            <a:r>
              <a:rPr lang="en-US" dirty="0"/>
              <a:t>('  Optimal radius: %.2f cm\\n', </a:t>
            </a:r>
            <a:r>
              <a:rPr lang="en-US" dirty="0" err="1"/>
              <a:t>optR_ps</a:t>
            </a:r>
            <a:r>
              <a:rPr lang="en-US" dirty="0"/>
              <a:t>);</a:t>
            </a:r>
          </a:p>
          <a:p>
            <a:r>
              <a:rPr lang="en-US" dirty="0" err="1"/>
              <a:t>fprintf</a:t>
            </a:r>
            <a:r>
              <a:rPr lang="en-US" dirty="0"/>
              <a:t>('  Optimal height: %.2f cm\\n', </a:t>
            </a:r>
            <a:r>
              <a:rPr lang="en-US" dirty="0" err="1"/>
              <a:t>optH_ps</a:t>
            </a:r>
            <a:r>
              <a:rPr lang="en-US" dirty="0"/>
              <a:t>);</a:t>
            </a:r>
          </a:p>
          <a:p>
            <a:r>
              <a:rPr lang="en-US" dirty="0" err="1"/>
              <a:t>fprintf</a:t>
            </a:r>
            <a:r>
              <a:rPr lang="en-US" dirty="0"/>
              <a:t>('  Minimum cost: %.2f $\n', </a:t>
            </a:r>
            <a:r>
              <a:rPr lang="en-US" dirty="0" err="1"/>
              <a:t>minCost_ps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94903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1256</Words>
  <Application>Microsoft Office PowerPoint</Application>
  <PresentationFormat>Widescreen</PresentationFormat>
  <Paragraphs>195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Numerical Optimization</vt:lpstr>
      <vt:lpstr>Numerical Optimization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Miranda-Dominguez</dc:creator>
  <cp:lastModifiedBy>Oscar Miranda-Dominguez</cp:lastModifiedBy>
  <cp:revision>10</cp:revision>
  <dcterms:created xsi:type="dcterms:W3CDTF">2025-07-21T15:21:09Z</dcterms:created>
  <dcterms:modified xsi:type="dcterms:W3CDTF">2025-07-21T19:04:14Z</dcterms:modified>
</cp:coreProperties>
</file>